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6"/>
    <p:restoredTop sz="94684"/>
  </p:normalViewPr>
  <p:slideViewPr>
    <p:cSldViewPr snapToGrid="0" snapToObjects="1">
      <p:cViewPr varScale="1">
        <p:scale>
          <a:sx n="150" d="100"/>
          <a:sy n="150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Austin–San Marcos</a:t>
            </a:r>
          </a:p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Housing Affordability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Calibri"/>
              </a:rPr>
              <a:t>A data-driven look at pricing pressure, spatial inequality, and the legacy of zoning.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Erik Olvera   •   CS 4379G   •   Dr. Aniruddha Bora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Final Presentation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548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01 —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•  </a:t>
            </a:r>
            <a:r>
              <a:rPr sz="2200">
                <a:solidFill>
                  <a:srgbClr val="0F172A"/>
                </a:solidFill>
                <a:latin typeface="Calibri"/>
              </a:rPr>
              <a:t>Austin's population grew ~30% in the 2010s — driven by a tech-sector boom.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•  </a:t>
            </a:r>
            <a:r>
              <a:rPr sz="2200">
                <a:solidFill>
                  <a:srgbClr val="0F172A"/>
                </a:solidFill>
                <a:latin typeface="Calibri"/>
              </a:rPr>
              <a:t>Median home prices and required incomes have decoupled from local wages.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•  </a:t>
            </a:r>
            <a:r>
              <a:rPr sz="2200">
                <a:solidFill>
                  <a:srgbClr val="0F172A"/>
                </a:solidFill>
                <a:latin typeface="Calibri"/>
              </a:rPr>
              <a:t>Spillover demand pressures San Marcos and the I-35 corridor.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•  </a:t>
            </a:r>
            <a:r>
              <a:rPr sz="2200">
                <a:solidFill>
                  <a:srgbClr val="0F172A"/>
                </a:solidFill>
                <a:latin typeface="Calibri"/>
              </a:rPr>
              <a:t>Question: how severe is the affordability gap, and where is it concentrated?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548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02 — 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dirty="0">
                <a:solidFill>
                  <a:srgbClr val="0F172A"/>
                </a:solidFill>
                <a:latin typeface="Calibri"/>
              </a:rPr>
              <a:t>Four datasets</a:t>
            </a:r>
            <a:r>
              <a:rPr lang="en-US" sz="4000" b="1" dirty="0">
                <a:solidFill>
                  <a:srgbClr val="0F172A"/>
                </a:solidFill>
                <a:latin typeface="Calibri"/>
              </a:rPr>
              <a:t> used</a:t>
            </a:r>
            <a:endParaRPr sz="40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2651760"/>
            <a:ext cx="8818813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Zillow ZHVI — typical home values, Austin &amp; San Marcos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Zillow Income-Needed — required income for median home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Redfin Data Center — weekly inventory &amp; median sale price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City of Austin Open Data — affordable housing 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FINDING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5029" y="41255"/>
            <a:ext cx="366002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Calibri"/>
              </a:rPr>
              <a:t>The Affordability Wall</a:t>
            </a:r>
          </a:p>
        </p:txBody>
      </p:sp>
      <p:pic>
        <p:nvPicPr>
          <p:cNvPr id="4" name="Picture 3" descr="income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61" y="502920"/>
            <a:ext cx="11064240" cy="58897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3880" y="6217920"/>
            <a:ext cx="110642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600" b="1" dirty="0">
                <a:solidFill>
                  <a:srgbClr val="06B6D4"/>
                </a:solidFill>
                <a:latin typeface="Calibri"/>
              </a:rPr>
              <a:t>Takeaway: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Required income to afford a median home nearly doubled — from ~$78K (2020) to a ~$150K peak (Oct 2022) — pricing out median earners.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FINDING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2004" y="-73879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Calibri"/>
              </a:rPr>
              <a:t>Synchronized I-35 Appreciation</a:t>
            </a:r>
          </a:p>
        </p:txBody>
      </p:sp>
      <p:pic>
        <p:nvPicPr>
          <p:cNvPr id="4" name="Picture 3" descr="zh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05" y="502920"/>
            <a:ext cx="11064240" cy="59272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34660" y="6286500"/>
            <a:ext cx="9400759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600" b="1">
                <a:solidFill>
                  <a:srgbClr val="06B6D4"/>
                </a:solidFill>
                <a:latin typeface="Calibri"/>
              </a:rPr>
              <a:t>Takeaway:  </a:t>
            </a:r>
            <a:r>
              <a:rPr sz="1600">
                <a:solidFill>
                  <a:srgbClr val="FFFFFF"/>
                </a:solidFill>
                <a:latin typeface="Calibri"/>
              </a:rPr>
              <a:t>Austin and San Marcos move in lockstep — spillover demand inflates both markets proportionally.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FINDING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7832" y="-67823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Calibri"/>
              </a:rPr>
              <a:t>Spatial Inequality of Affordable Housing</a:t>
            </a:r>
          </a:p>
        </p:txBody>
      </p:sp>
      <p:pic>
        <p:nvPicPr>
          <p:cNvPr id="4" name="Picture 3" descr="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74" y="520784"/>
            <a:ext cx="10903765" cy="59102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11485" y="6377832"/>
            <a:ext cx="8861808" cy="46870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600" b="1">
                <a:solidFill>
                  <a:srgbClr val="06B6D4"/>
                </a:solidFill>
                <a:latin typeface="Calibri"/>
              </a:rPr>
              <a:t>Takeaway:  </a:t>
            </a:r>
            <a:r>
              <a:rPr sz="1600">
                <a:solidFill>
                  <a:srgbClr val="FFFFFF"/>
                </a:solidFill>
                <a:latin typeface="Calibri"/>
              </a:rPr>
              <a:t>Affordable housing clusters east of I-35; West and Central Austin are housing deserts.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548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HISTORICAL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Calibri"/>
              </a:rPr>
              <a:t>The 1928 Austin City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1928 plan used redlining and exclusionary zoning to relegate minority and low-income communities east of I-35.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Decades of underinvestment made East Austin the default site for city-sponsored affordable housing.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Today's bubble map is the visible footprint of that policy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2400" dirty="0">
                <a:solidFill>
                  <a:srgbClr val="0F172A"/>
                </a:solidFill>
                <a:latin typeface="Calibri"/>
              </a:rPr>
              <a:t>Compounding crisis: as East Austin gentrifies, the populations dependent on this concentrated infrastructure are being displaced.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Streamlit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548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04 —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Calibri"/>
              </a:rPr>
              <a:t>What this analysis can't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1800" dirty="0">
                <a:solidFill>
                  <a:srgbClr val="0F172A"/>
                </a:solidFill>
                <a:latin typeface="Calibri"/>
              </a:rPr>
              <a:t>Federal interest-rate effects not modeled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1800" dirty="0">
                <a:solidFill>
                  <a:srgbClr val="0F172A"/>
                </a:solidFill>
                <a:latin typeface="Calibri"/>
              </a:rPr>
              <a:t>Inventory data is metro-aggregated, not by ZIP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1800" dirty="0">
                <a:solidFill>
                  <a:srgbClr val="0F172A"/>
                </a:solidFill>
                <a:latin typeface="Calibri"/>
              </a:rPr>
              <a:t>Naturally Occurring Affordable Housing (NOAH) is excluded from the city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517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•  </a:t>
            </a:r>
            <a:r>
              <a:rPr sz="1800" dirty="0">
                <a:solidFill>
                  <a:srgbClr val="0F172A"/>
                </a:solidFill>
                <a:latin typeface="Calibri"/>
              </a:rPr>
              <a:t>Add NOAH inventory via parcel-level data scraping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>
                <a:solidFill>
                  <a:srgbClr val="0F172A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Erik Olvera   •   CS 4379G   • 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373</Words>
  <Application>Microsoft Macintosh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Olvera, Erik A</cp:lastModifiedBy>
  <cp:revision>3</cp:revision>
  <dcterms:created xsi:type="dcterms:W3CDTF">2013-01-27T09:14:16Z</dcterms:created>
  <dcterms:modified xsi:type="dcterms:W3CDTF">2026-05-07T22:51:55Z</dcterms:modified>
  <cp:category/>
</cp:coreProperties>
</file>